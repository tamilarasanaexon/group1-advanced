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167B1"/>
          </a:solidFill>
          <a:ln w="12700">
            <a:solidFill>
              <a:srgbClr val="1167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470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GROUP1 ADVANCED | CLOUD &amp; DEVSECOPS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875520" y="228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B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Capstone Project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795A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795A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pic>
        <p:nvPicPr>
          <p:cNvPr id="3" name="Image 0" descr="/mnt/data/capstone_visual.png">    </p:cNvPr>
          <p:cNvPicPr>
            <a:picLocks noChangeAspect="1"/>
          </p:cNvPicPr>
          <p:nvPr/>
        </p:nvPicPr>
        <p:blipFill>
          <a:blip r:embed="rId1"/>
          <a:srcRect l="19422" r="19422" t="0" b="0"/>
          <a:stretch/>
        </p:blipFill>
        <p:spPr>
          <a:xfrm>
            <a:off x="5897880" y="0"/>
            <a:ext cx="6291072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77840" y="0"/>
            <a:ext cx="1920240" cy="6858000"/>
          </a:xfrm>
          <a:prstGeom prst="rect">
            <a:avLst/>
          </a:prstGeom>
          <a:solidFill>
            <a:srgbClr val="102A43">
              <a:alpha val="80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12344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30" kern="0" dirty="0">
                <a:solidFill>
                  <a:srgbClr val="57C4FF"/>
                </a:solidFill>
              </a:rPr>
              <a:t>GROUP1 ADVANCED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8368" y="1783080"/>
            <a:ext cx="5257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Cloud &amp; DevSecOps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Capstone Project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85800" y="33832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8E7F2"/>
                </a:solidFill>
              </a:rPr>
              <a:t>Secure software delivery from code to validated development deployment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85800" y="4617720"/>
            <a:ext cx="1097280" cy="438912"/>
          </a:xfrm>
          <a:prstGeom prst="roundRect">
            <a:avLst>
              <a:gd name="adj" fmla="val 16667"/>
            </a:avLst>
          </a:prstGeom>
          <a:solidFill>
            <a:srgbClr val="1167B1"/>
          </a:solidFill>
          <a:ln w="12700">
            <a:solidFill>
              <a:srgbClr val="1167B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" y="4709160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PYTHON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901952" y="4617720"/>
            <a:ext cx="1234440" cy="438912"/>
          </a:xfrm>
          <a:prstGeom prst="roundRect">
            <a:avLst>
              <a:gd name="adj" fmla="val 16667"/>
            </a:avLst>
          </a:prstGeom>
          <a:solidFill>
            <a:srgbClr val="7654A8"/>
          </a:solidFill>
          <a:ln w="12700">
            <a:solidFill>
              <a:srgbClr val="7654A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965960" y="4709160"/>
            <a:ext cx="110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TERRAFORM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55264" y="4617720"/>
            <a:ext cx="1051560" cy="438912"/>
          </a:xfrm>
          <a:prstGeom prst="roundRect">
            <a:avLst>
              <a:gd name="adj" fmla="val 16667"/>
            </a:avLst>
          </a:prstGeom>
          <a:solidFill>
            <a:srgbClr val="2CA6A4"/>
          </a:solidFill>
          <a:ln w="12700">
            <a:solidFill>
              <a:srgbClr val="2CA6A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19272" y="4709160"/>
            <a:ext cx="923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DOCKER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425696" y="4617720"/>
            <a:ext cx="960120" cy="438912"/>
          </a:xfrm>
          <a:prstGeom prst="roundRect">
            <a:avLst>
              <a:gd name="adj" fmla="val 16667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89704" y="4709160"/>
            <a:ext cx="832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DEVSECOPS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85800" y="53492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D8F5"/>
                </a:solidFill>
              </a:rPr>
              <a:t>Code → Test → Secure → Build → Release → Deploy → Validate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795A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</a:rPr>
              <a:t>Project overview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118872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88A"/>
                </a:solidFill>
              </a:rPr>
              <a:t>A practical capstone focused on repeatable delivery, infrastructure validation, and built-in security.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19050" dist="50800" dir="2700000">
              <a:srgbClr val="C9D3D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3429000" cy="109728"/>
          </a:xfrm>
          <a:prstGeom prst="rect">
            <a:avLst/>
          </a:prstGeom>
          <a:solidFill>
            <a:srgbClr val="1167B1"/>
          </a:solidFill>
          <a:ln w="12700">
            <a:solidFill>
              <a:srgbClr val="1167B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5740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Application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487168"/>
            <a:ext cx="3063240" cy="2532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130" dirty="0">
                <a:solidFill>
                  <a:srgbClr val="425466"/>
                </a:solidFill>
              </a:rPr>
              <a:t>Python API</a:t>
            </a:r>
            <a:endParaRPr lang="en-US" sz="1130" dirty="0"/>
          </a:p>
          <a:p>
            <a:r>
              <a:rPr lang="en-US" sz="1130" dirty="0">
                <a:solidFill>
                  <a:srgbClr val="425466"/>
                </a:solidFill>
              </a:rPr>
              <a:t>Health and documentation endpoints</a:t>
            </a:r>
            <a:endParaRPr lang="en-US" sz="1130" dirty="0"/>
          </a:p>
          <a:p>
            <a:r>
              <a:rPr lang="en-US" sz="1130" dirty="0">
                <a:solidFill>
                  <a:srgbClr val="425466"/>
                </a:solidFill>
              </a:rPr>
              <a:t>Automated pytest validation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4370832" y="1828800"/>
            <a:ext cx="342900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19050" dist="50800" dir="2700000">
              <a:srgbClr val="C9D3DC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70832" y="1828800"/>
            <a:ext cx="3429000" cy="109728"/>
          </a:xfrm>
          <a:prstGeom prst="rect">
            <a:avLst/>
          </a:prstGeom>
          <a:solidFill>
            <a:srgbClr val="7654A8"/>
          </a:solidFill>
          <a:ln w="12700">
            <a:solidFill>
              <a:srgbClr val="7654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205740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Infrastructure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53712" y="2487168"/>
            <a:ext cx="3063240" cy="2532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130" dirty="0">
                <a:solidFill>
                  <a:srgbClr val="425466"/>
                </a:solidFill>
              </a:rPr>
              <a:t>Terraform definitions</a:t>
            </a:r>
            <a:endParaRPr lang="en-US" sz="1130" dirty="0"/>
          </a:p>
          <a:p>
            <a:r>
              <a:rPr lang="en-US" sz="1130" dirty="0">
                <a:solidFill>
                  <a:srgbClr val="425466"/>
                </a:solidFill>
              </a:rPr>
              <a:t>Formatting and validation gates</a:t>
            </a:r>
            <a:endParaRPr lang="en-US" sz="1130" dirty="0"/>
          </a:p>
          <a:p>
            <a:r>
              <a:rPr lang="en-US" sz="1130" dirty="0">
                <a:solidFill>
                  <a:srgbClr val="425466"/>
                </a:solidFill>
              </a:rPr>
              <a:t>Network, logging and encryption controls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8101584" y="1828800"/>
            <a:ext cx="342900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19050" dist="50800" dir="2700000">
              <a:srgbClr val="C9D3DC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01584" y="1828800"/>
            <a:ext cx="3429000" cy="109728"/>
          </a:xfrm>
          <a:prstGeom prst="rect">
            <a:avLst/>
          </a:prstGeom>
          <a:solidFill>
            <a:srgbClr val="4F9D69"/>
          </a:solidFill>
          <a:ln w="12700">
            <a:solidFill>
              <a:srgbClr val="4F9D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84464" y="205740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Delivery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84464" y="2487168"/>
            <a:ext cx="3063240" cy="2532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130" dirty="0">
                <a:solidFill>
                  <a:srgbClr val="425466"/>
                </a:solidFill>
              </a:rPr>
              <a:t>GitHub Actions CI/CD</a:t>
            </a:r>
            <a:endParaRPr lang="en-US" sz="1130" dirty="0"/>
          </a:p>
          <a:p>
            <a:r>
              <a:rPr lang="en-US" sz="1130" dirty="0">
                <a:solidFill>
                  <a:srgbClr val="425466"/>
                </a:solidFill>
              </a:rPr>
              <a:t>Container build and registry release</a:t>
            </a:r>
            <a:endParaRPr lang="en-US" sz="1130" dirty="0"/>
          </a:p>
          <a:p>
            <a:r>
              <a:rPr lang="en-US" sz="1130" dirty="0">
                <a:solidFill>
                  <a:srgbClr val="425466"/>
                </a:solidFill>
              </a:rPr>
              <a:t>Dev deployment and health checks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640080" y="5669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88A"/>
                </a:solidFill>
              </a:rPr>
              <a:t>Outcome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54480" y="559612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4F"/>
                </a:solidFill>
              </a:rPr>
              <a:t>A working, security-focused delivery pipeline with evidence at every stage.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795A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</a:rPr>
              <a:t>Solution architecture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118872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88A"/>
                </a:solidFill>
              </a:rPr>
              <a:t>The primary delivery flow is linear, with infrastructure validation performed alongside application CI.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1143000" cy="1143000"/>
          </a:xfrm>
          <a:prstGeom prst="roundRect">
            <a:avLst>
              <a:gd name="adj" fmla="val 4800"/>
            </a:avLst>
          </a:prstGeom>
          <a:solidFill>
            <a:srgbClr val="EAF2F8"/>
          </a:solidFill>
          <a:ln w="17780">
            <a:solidFill>
              <a:srgbClr val="1167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2331720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</a:rPr>
              <a:t>Source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" y="2670048"/>
            <a:ext cx="996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4788A"/>
                </a:solidFill>
              </a:rPr>
              <a:t>GitHub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1728216" y="2532888"/>
            <a:ext cx="256032" cy="320040"/>
          </a:xfrm>
          <a:prstGeom prst="chevron">
            <a:avLst/>
          </a:prstGeom>
          <a:solidFill>
            <a:srgbClr val="8AA7BE"/>
          </a:solidFill>
          <a:ln w="12700">
            <a:solidFill>
              <a:srgbClr val="8AA7B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65960" y="2148840"/>
            <a:ext cx="1143000" cy="1143000"/>
          </a:xfrm>
          <a:prstGeom prst="roundRect">
            <a:avLst>
              <a:gd name="adj" fmla="val 4800"/>
            </a:avLst>
          </a:prstGeom>
          <a:solidFill>
            <a:srgbClr val="EAF2F8"/>
          </a:solidFill>
          <a:ln w="17780">
            <a:solidFill>
              <a:srgbClr val="1167B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39112" y="2331720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</a:rPr>
              <a:t>Test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39112" y="2670048"/>
            <a:ext cx="996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4788A"/>
                </a:solidFill>
              </a:rPr>
              <a:t>Python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3145536" y="2532888"/>
            <a:ext cx="256032" cy="320040"/>
          </a:xfrm>
          <a:prstGeom prst="chevron">
            <a:avLst/>
          </a:prstGeom>
          <a:solidFill>
            <a:srgbClr val="8AA7BE"/>
          </a:solidFill>
          <a:ln w="12700">
            <a:solidFill>
              <a:srgbClr val="8AA7B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2148840"/>
            <a:ext cx="1143000" cy="1143000"/>
          </a:xfrm>
          <a:prstGeom prst="roundRect">
            <a:avLst>
              <a:gd name="adj" fmla="val 4800"/>
            </a:avLst>
          </a:prstGeom>
          <a:solidFill>
            <a:srgbClr val="FFF0E4"/>
          </a:solidFill>
          <a:ln w="1778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2331720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</a:rPr>
              <a:t>Secure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56432" y="2670048"/>
            <a:ext cx="996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4788A"/>
                </a:solidFill>
              </a:rPr>
              <a:t>Gitleaks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64788A"/>
                </a:solidFill>
              </a:rPr>
              <a:t>Checkov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64788A"/>
                </a:solidFill>
              </a:rPr>
              <a:t>Trivy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4562856" y="2532888"/>
            <a:ext cx="256032" cy="320040"/>
          </a:xfrm>
          <a:prstGeom prst="chevron">
            <a:avLst/>
          </a:prstGeom>
          <a:solidFill>
            <a:srgbClr val="8AA7BE"/>
          </a:solidFill>
          <a:ln w="12700">
            <a:solidFill>
              <a:srgbClr val="8AA7B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2148840"/>
            <a:ext cx="1143000" cy="1143000"/>
          </a:xfrm>
          <a:prstGeom prst="roundRect">
            <a:avLst>
              <a:gd name="adj" fmla="val 4800"/>
            </a:avLst>
          </a:prstGeom>
          <a:solidFill>
            <a:srgbClr val="EAF2F8"/>
          </a:solidFill>
          <a:ln w="17780">
            <a:solidFill>
              <a:srgbClr val="1167B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73752" y="2331720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</a:rPr>
              <a:t>Build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73752" y="2670048"/>
            <a:ext cx="996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4788A"/>
                </a:solidFill>
              </a:rPr>
              <a:t>Docker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5980176" y="2532888"/>
            <a:ext cx="256032" cy="320040"/>
          </a:xfrm>
          <a:prstGeom prst="chevron">
            <a:avLst/>
          </a:prstGeom>
          <a:solidFill>
            <a:srgbClr val="8AA7BE"/>
          </a:solidFill>
          <a:ln w="12700">
            <a:solidFill>
              <a:srgbClr val="8AA7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2148840"/>
            <a:ext cx="1143000" cy="1143000"/>
          </a:xfrm>
          <a:prstGeom prst="roundRect">
            <a:avLst>
              <a:gd name="adj" fmla="val 4800"/>
            </a:avLst>
          </a:prstGeom>
          <a:solidFill>
            <a:srgbClr val="EAF2F8"/>
          </a:solidFill>
          <a:ln w="17780">
            <a:solidFill>
              <a:srgbClr val="1167B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1072" y="2331720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</a:rPr>
              <a:t>Release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91072" y="2670048"/>
            <a:ext cx="996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4788A"/>
                </a:solidFill>
              </a:rPr>
              <a:t>release.yml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7397496" y="2532888"/>
            <a:ext cx="256032" cy="320040"/>
          </a:xfrm>
          <a:prstGeom prst="chevron">
            <a:avLst/>
          </a:prstGeom>
          <a:solidFill>
            <a:srgbClr val="8AA7BE"/>
          </a:solidFill>
          <a:ln w="12700">
            <a:solidFill>
              <a:srgbClr val="8AA7B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35240" y="2148840"/>
            <a:ext cx="1143000" cy="1143000"/>
          </a:xfrm>
          <a:prstGeom prst="roundRect">
            <a:avLst>
              <a:gd name="adj" fmla="val 4800"/>
            </a:avLst>
          </a:prstGeom>
          <a:solidFill>
            <a:srgbClr val="EAF2F8"/>
          </a:solidFill>
          <a:ln w="17780">
            <a:solidFill>
              <a:srgbClr val="1167B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08392" y="2331720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</a:rPr>
              <a:t>Registry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08392" y="2670048"/>
            <a:ext cx="996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4788A"/>
                </a:solidFill>
              </a:rPr>
              <a:t>GHCR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8814816" y="2532888"/>
            <a:ext cx="256032" cy="320040"/>
          </a:xfrm>
          <a:prstGeom prst="chevron">
            <a:avLst/>
          </a:prstGeom>
          <a:solidFill>
            <a:srgbClr val="8AA7BE"/>
          </a:solidFill>
          <a:ln w="12700">
            <a:solidFill>
              <a:srgbClr val="8AA7B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52560" y="2148840"/>
            <a:ext cx="1143000" cy="1143000"/>
          </a:xfrm>
          <a:prstGeom prst="roundRect">
            <a:avLst>
              <a:gd name="adj" fmla="val 4800"/>
            </a:avLst>
          </a:prstGeom>
          <a:solidFill>
            <a:srgbClr val="E8F4EA"/>
          </a:solidFill>
          <a:ln w="17780">
            <a:solidFill>
              <a:srgbClr val="4F9D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25712" y="2331720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</a:rPr>
              <a:t>Deploy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25712" y="2670048"/>
            <a:ext cx="996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4788A"/>
                </a:solidFill>
              </a:rPr>
              <a:t>dev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10232136" y="2532888"/>
            <a:ext cx="256032" cy="320040"/>
          </a:xfrm>
          <a:prstGeom prst="chevron">
            <a:avLst/>
          </a:prstGeom>
          <a:solidFill>
            <a:srgbClr val="8AA7BE"/>
          </a:solidFill>
          <a:ln w="12700">
            <a:solidFill>
              <a:srgbClr val="8AA7B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469880" y="2148840"/>
            <a:ext cx="1143000" cy="1143000"/>
          </a:xfrm>
          <a:prstGeom prst="roundRect">
            <a:avLst>
              <a:gd name="adj" fmla="val 4800"/>
            </a:avLst>
          </a:prstGeom>
          <a:solidFill>
            <a:srgbClr val="E8F4EA"/>
          </a:solidFill>
          <a:ln w="17780">
            <a:solidFill>
              <a:srgbClr val="4F9D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43032" y="2331720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</a:rPr>
              <a:t>Validate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543032" y="2670048"/>
            <a:ext cx="996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64788A"/>
                </a:solidFill>
              </a:rPr>
              <a:t>/health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2057400" y="4069080"/>
            <a:ext cx="4206240" cy="1325880"/>
          </a:xfrm>
          <a:prstGeom prst="roundRect">
            <a:avLst>
              <a:gd name="adj" fmla="val 4138"/>
            </a:avLst>
          </a:prstGeom>
          <a:solidFill>
            <a:srgbClr val="F4EEFB"/>
          </a:solidFill>
          <a:ln w="16510">
            <a:solidFill>
              <a:srgbClr val="7654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0" y="43159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E3572"/>
                </a:solidFill>
              </a:rPr>
              <a:t>Terraform infrastructure definition &amp; validation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2267712" y="473659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dirty="0">
                <a:solidFill>
                  <a:srgbClr val="655277"/>
                </a:solidFill>
              </a:rPr>
              <a:t>VPC • Private subnet • Security groups • Flow Logs • CloudWatch • KMS</a:t>
            </a:r>
            <a:endParaRPr lang="en-US" sz="1060" dirty="0"/>
          </a:p>
        </p:txBody>
      </p:sp>
      <p:sp>
        <p:nvSpPr>
          <p:cNvPr id="38" name="Shape 36"/>
          <p:cNvSpPr/>
          <p:nvPr/>
        </p:nvSpPr>
        <p:spPr>
          <a:xfrm>
            <a:off x="1115568" y="3337560"/>
            <a:ext cx="1645920" cy="694944"/>
          </a:xfrm>
          <a:prstGeom prst="line">
            <a:avLst/>
          </a:prstGeom>
          <a:noFill/>
          <a:ln w="20320">
            <a:solidFill>
              <a:srgbClr val="7654A8"/>
            </a:solidFill>
            <a:prstDash val="solid"/>
            <a:headEnd type="none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658368" y="3931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54A8"/>
                </a:solidFill>
              </a:rPr>
              <a:t>Infrastructure branch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011680" y="5897880"/>
            <a:ext cx="8183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324F"/>
                </a:solidFill>
              </a:rPr>
              <a:t>Code → Test → Secure → Build → Release → Deploy → Validate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795A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</a:rPr>
              <a:t>Python API &amp; automated tests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118872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88A"/>
                </a:solidFill>
              </a:rPr>
              <a:t>The application exposes simple endpoints that are exercised locally and inside the deployment workflow.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154680" cy="347472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19050" dist="50800" dir="2700000">
              <a:srgbClr val="C9D3D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3154680" cy="109728"/>
          </a:xfrm>
          <a:prstGeom prst="rect">
            <a:avLst/>
          </a:prstGeom>
          <a:solidFill>
            <a:srgbClr val="1167B1"/>
          </a:solidFill>
          <a:ln w="12700">
            <a:solidFill>
              <a:srgbClr val="1167B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6596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API surface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395728"/>
            <a:ext cx="2788920" cy="2670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130" dirty="0">
                <a:solidFill>
                  <a:srgbClr val="425466"/>
                </a:solidFill>
              </a:rPr>
              <a:t>GET /  - root response</a:t>
            </a:r>
            <a:endParaRPr lang="en-US" sz="1130" dirty="0"/>
          </a:p>
          <a:p>
            <a:r>
              <a:rPr lang="en-US" sz="1130" dirty="0">
                <a:solidFill>
                  <a:srgbClr val="425466"/>
                </a:solidFill>
              </a:rPr>
              <a:t>GET /health - service health</a:t>
            </a:r>
            <a:endParaRPr lang="en-US" sz="1130" dirty="0"/>
          </a:p>
          <a:p>
            <a:r>
              <a:rPr lang="en-US" sz="1130" dirty="0">
                <a:solidFill>
                  <a:srgbClr val="425466"/>
                </a:solidFill>
              </a:rPr>
              <a:t>GET /doc - documentation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4096512" y="1737360"/>
            <a:ext cx="3154680" cy="347472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19050" dist="50800" dir="2700000">
              <a:srgbClr val="C9D3DC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096512" y="1737360"/>
            <a:ext cx="3154680" cy="109728"/>
          </a:xfrm>
          <a:prstGeom prst="rect">
            <a:avLst/>
          </a:prstGeom>
          <a:solidFill>
            <a:srgbClr val="2CA6A4"/>
          </a:solidFill>
          <a:ln w="12700">
            <a:solidFill>
              <a:srgbClr val="2CA6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79392" y="196596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Test coverage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79392" y="2395728"/>
            <a:ext cx="2788920" cy="2670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130" dirty="0">
                <a:solidFill>
                  <a:srgbClr val="425466"/>
                </a:solidFill>
              </a:rPr>
              <a:t>Pytest health endpoint</a:t>
            </a:r>
            <a:endParaRPr lang="en-US" sz="1130" dirty="0"/>
          </a:p>
          <a:p>
            <a:r>
              <a:rPr lang="en-US" sz="1130" dirty="0">
                <a:solidFill>
                  <a:srgbClr val="425466"/>
                </a:solidFill>
              </a:rPr>
              <a:t>Pytest documentation endpoint</a:t>
            </a:r>
            <a:endParaRPr lang="en-US" sz="1130" dirty="0"/>
          </a:p>
          <a:p>
            <a:r>
              <a:rPr lang="en-US" sz="1130" dirty="0">
                <a:solidFill>
                  <a:srgbClr val="425466"/>
                </a:solidFill>
              </a:rPr>
              <a:t>Syntax and import validation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7552944" y="1737360"/>
            <a:ext cx="397764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19050" dist="50800" dir="2700000">
              <a:srgbClr val="C9D3DC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552944" y="1737360"/>
            <a:ext cx="3977640" cy="109728"/>
          </a:xfrm>
          <a:prstGeom prst="rect">
            <a:avLst/>
          </a:prstGeom>
          <a:solidFill>
            <a:srgbClr val="4F9D69"/>
          </a:solidFill>
          <a:ln w="12700">
            <a:solidFill>
              <a:srgbClr val="4F9D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35824" y="196596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Observed evidence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35824" y="2395728"/>
            <a:ext cx="3611880" cy="2670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130" dirty="0">
                <a:solidFill>
                  <a:srgbClr val="425466"/>
                </a:solidFill>
              </a:rPr>
              <a:t>Local pytest: 2 passed</a:t>
            </a:r>
            <a:endParaRPr lang="en-US" sz="1130" dirty="0"/>
          </a:p>
          <a:p>
            <a:r>
              <a:rPr lang="en-US" sz="1130" dirty="0">
                <a:solidFill>
                  <a:srgbClr val="425466"/>
                </a:solidFill>
              </a:rPr>
              <a:t>Browser health check: status = ok</a:t>
            </a:r>
            <a:endParaRPr lang="en-US" sz="1130" dirty="0"/>
          </a:p>
          <a:p>
            <a:r>
              <a:rPr lang="en-US" sz="1130" dirty="0">
                <a:solidFill>
                  <a:srgbClr val="425466"/>
                </a:solidFill>
              </a:rPr>
              <a:t>CI application tests: passed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2834640" y="5623560"/>
            <a:ext cx="6492240" cy="548640"/>
          </a:xfrm>
          <a:prstGeom prst="roundRect">
            <a:avLst>
              <a:gd name="adj" fmla="val 8333"/>
            </a:avLst>
          </a:prstGeom>
          <a:solidFill>
            <a:srgbClr val="E8F4EA"/>
          </a:solidFill>
          <a:ln w="12700">
            <a:solidFill>
              <a:srgbClr val="4F9D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63240" y="5779008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D6441"/>
                </a:solidFill>
              </a:rPr>
              <a:t>Health validation is a deployment gate, not only a local test.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795A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</a:rPr>
              <a:t>Infrastructure as Code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118872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88A"/>
                </a:solidFill>
              </a:rPr>
              <a:t>Terraform is treated as a controlled, testable infrastructure definition in the delivery process.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384048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19050" dist="50800" dir="2700000">
              <a:srgbClr val="C9D3D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3429000" cy="109728"/>
          </a:xfrm>
          <a:prstGeom prst="rect">
            <a:avLst/>
          </a:prstGeom>
          <a:solidFill>
            <a:srgbClr val="7654A8"/>
          </a:solidFill>
          <a:ln w="12700">
            <a:solidFill>
              <a:srgbClr val="7654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2024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Defined controls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350008"/>
            <a:ext cx="3063240" cy="3035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130" dirty="0">
                <a:solidFill>
                  <a:srgbClr val="425466"/>
                </a:solidFill>
              </a:rPr>
              <a:t>AWS VPC</a:t>
            </a:r>
            <a:endParaRPr lang="en-US" sz="1130" dirty="0"/>
          </a:p>
          <a:p>
            <a:r>
              <a:rPr lang="en-US" sz="1130" dirty="0">
                <a:solidFill>
                  <a:srgbClr val="425466"/>
                </a:solidFill>
              </a:rPr>
              <a:t>Private subnet</a:t>
            </a:r>
            <a:endParaRPr lang="en-US" sz="1130" dirty="0"/>
          </a:p>
          <a:p>
            <a:r>
              <a:rPr lang="en-US" sz="1130" dirty="0">
                <a:solidFill>
                  <a:srgbClr val="425466"/>
                </a:solidFill>
              </a:rPr>
              <a:t>Security groups</a:t>
            </a:r>
            <a:endParaRPr lang="en-US" sz="1130" dirty="0"/>
          </a:p>
          <a:p>
            <a:r>
              <a:rPr lang="en-US" sz="1130" dirty="0">
                <a:solidFill>
                  <a:srgbClr val="425466"/>
                </a:solidFill>
              </a:rPr>
              <a:t>VPC Flow Logs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4370832" y="1691640"/>
            <a:ext cx="3429000" cy="384048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19050" dist="50800" dir="2700000">
              <a:srgbClr val="C9D3DC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70832" y="1691640"/>
            <a:ext cx="3429000" cy="109728"/>
          </a:xfrm>
          <a:prstGeom prst="rect">
            <a:avLst/>
          </a:prstGeom>
          <a:solidFill>
            <a:srgbClr val="7654A8"/>
          </a:solidFill>
          <a:ln w="12700">
            <a:solidFill>
              <a:srgbClr val="7654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92024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Logging &amp; encryption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53712" y="2350008"/>
            <a:ext cx="3063240" cy="3035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130" dirty="0">
                <a:solidFill>
                  <a:srgbClr val="425466"/>
                </a:solidFill>
              </a:rPr>
              <a:t>CloudWatch logging</a:t>
            </a:r>
            <a:endParaRPr lang="en-US" sz="1130" dirty="0"/>
          </a:p>
          <a:p>
            <a:r>
              <a:rPr lang="en-US" sz="1130" dirty="0">
                <a:solidFill>
                  <a:srgbClr val="425466"/>
                </a:solidFill>
              </a:rPr>
              <a:t>365-day retention</a:t>
            </a:r>
            <a:endParaRPr lang="en-US" sz="1130" dirty="0"/>
          </a:p>
          <a:p>
            <a:r>
              <a:rPr lang="en-US" sz="1130" dirty="0">
                <a:solidFill>
                  <a:srgbClr val="425466"/>
                </a:solidFill>
              </a:rPr>
              <a:t>KMS encryption</a:t>
            </a:r>
            <a:endParaRPr lang="en-US" sz="1130" dirty="0"/>
          </a:p>
          <a:p>
            <a:r>
              <a:rPr lang="en-US" sz="1130" dirty="0">
                <a:solidFill>
                  <a:srgbClr val="425466"/>
                </a:solidFill>
              </a:rPr>
              <a:t>Key rotation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8101584" y="1691640"/>
            <a:ext cx="3429000" cy="384048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19050" dist="50800" dir="2700000">
              <a:srgbClr val="C9D3DC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01584" y="1691640"/>
            <a:ext cx="3429000" cy="109728"/>
          </a:xfrm>
          <a:prstGeom prst="rect">
            <a:avLst/>
          </a:prstGeom>
          <a:solidFill>
            <a:srgbClr val="1167B1"/>
          </a:solidFill>
          <a:ln w="12700">
            <a:solidFill>
              <a:srgbClr val="1167B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84464" y="192024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Pipeline gates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84464" y="2350008"/>
            <a:ext cx="3063240" cy="3035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130" dirty="0">
                <a:solidFill>
                  <a:srgbClr val="425466"/>
                </a:solidFill>
              </a:rPr>
              <a:t>terraform fmt -check</a:t>
            </a:r>
            <a:endParaRPr lang="en-US" sz="1130" dirty="0"/>
          </a:p>
          <a:p>
            <a:r>
              <a:rPr lang="en-US" sz="1130" dirty="0">
                <a:solidFill>
                  <a:srgbClr val="425466"/>
                </a:solidFill>
              </a:rPr>
              <a:t>terraform init -backend=false</a:t>
            </a:r>
            <a:endParaRPr lang="en-US" sz="1130" dirty="0"/>
          </a:p>
          <a:p>
            <a:r>
              <a:rPr lang="en-US" sz="1130" dirty="0">
                <a:solidFill>
                  <a:srgbClr val="425466"/>
                </a:solidFill>
              </a:rPr>
              <a:t>terraform validate</a:t>
            </a:r>
            <a:endParaRPr lang="en-US" sz="1130" dirty="0"/>
          </a:p>
          <a:p>
            <a:r>
              <a:rPr lang="en-US" sz="1130" dirty="0">
                <a:solidFill>
                  <a:srgbClr val="425466"/>
                </a:solidFill>
              </a:rPr>
              <a:t>Checkov IaC scan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1051560" y="5897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i="1" dirty="0">
                <a:solidFill>
                  <a:srgbClr val="64788A"/>
                </a:solidFill>
              </a:rPr>
              <a:t>Scope note: this capstone demonstrates infrastructure definition and validation; the diagram does not claim live AWS provisioning.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795A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</a:rPr>
              <a:t>Continuous integration pipeline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118872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88A"/>
                </a:solidFill>
              </a:rPr>
              <a:t>ci.yml blocks progression unless application, infrastructure, security, and container checks succeed.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49808" y="2011680"/>
            <a:ext cx="2331720" cy="246888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20320">
            <a:solidFill>
              <a:srgbClr val="1167B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99616" y="1664208"/>
            <a:ext cx="822960" cy="822960"/>
          </a:xfrm>
          <a:prstGeom prst="ellipse">
            <a:avLst/>
          </a:prstGeom>
          <a:solidFill>
            <a:srgbClr val="1167B1"/>
          </a:solidFill>
          <a:ln w="12700">
            <a:solidFill>
              <a:srgbClr val="1167B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99616" y="186537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78408" y="27432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</a:rPr>
              <a:t>Python API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78408" y="33375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dirty="0">
                <a:solidFill>
                  <a:srgbClr val="64788A"/>
                </a:solidFill>
              </a:rPr>
              <a:t>Syntax • imports • pytest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3172968" y="2907792"/>
            <a:ext cx="320040" cy="502920"/>
          </a:xfrm>
          <a:prstGeom prst="chevron">
            <a:avLst/>
          </a:prstGeom>
          <a:solidFill>
            <a:srgbClr val="A8B7C4"/>
          </a:solidFill>
          <a:ln w="12700">
            <a:solidFill>
              <a:srgbClr val="A8B7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2011680"/>
            <a:ext cx="2331720" cy="246888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20320">
            <a:solidFill>
              <a:srgbClr val="7654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15968" y="1664208"/>
            <a:ext cx="822960" cy="822960"/>
          </a:xfrm>
          <a:prstGeom prst="ellipse">
            <a:avLst/>
          </a:prstGeom>
          <a:solidFill>
            <a:srgbClr val="7654A8"/>
          </a:solidFill>
          <a:ln w="12700">
            <a:solidFill>
              <a:srgbClr val="7654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15968" y="186537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94760" y="27432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</a:rPr>
              <a:t>Terraform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794760" y="33375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dirty="0">
                <a:solidFill>
                  <a:srgbClr val="64788A"/>
                </a:solidFill>
              </a:rPr>
              <a:t>fmt • init • validate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5989320" y="2907792"/>
            <a:ext cx="320040" cy="502920"/>
          </a:xfrm>
          <a:prstGeom prst="chevron">
            <a:avLst/>
          </a:prstGeom>
          <a:solidFill>
            <a:srgbClr val="A8B7C4"/>
          </a:solidFill>
          <a:ln w="12700">
            <a:solidFill>
              <a:srgbClr val="A8B7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82512" y="2011680"/>
            <a:ext cx="2331720" cy="246888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20320">
            <a:solidFill>
              <a:srgbClr val="E67E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0" y="1664208"/>
            <a:ext cx="822960" cy="82296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186537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11112" y="27432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</a:rPr>
              <a:t>Security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611112" y="33375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dirty="0">
                <a:solidFill>
                  <a:srgbClr val="64788A"/>
                </a:solidFill>
              </a:rPr>
              <a:t>Gitleaks • Checkov • Trivy</a:t>
            </a:r>
            <a:endParaRPr lang="en-US" sz="1130" dirty="0"/>
          </a:p>
        </p:txBody>
      </p:sp>
      <p:sp>
        <p:nvSpPr>
          <p:cNvPr id="21" name="Shape 19"/>
          <p:cNvSpPr/>
          <p:nvPr/>
        </p:nvSpPr>
        <p:spPr>
          <a:xfrm>
            <a:off x="8805672" y="2907792"/>
            <a:ext cx="320040" cy="502920"/>
          </a:xfrm>
          <a:prstGeom prst="chevron">
            <a:avLst/>
          </a:prstGeom>
          <a:solidFill>
            <a:srgbClr val="A8B7C4"/>
          </a:solidFill>
          <a:ln w="12700">
            <a:solidFill>
              <a:srgbClr val="A8B7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98864" y="2011680"/>
            <a:ext cx="2331720" cy="246888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20320">
            <a:solidFill>
              <a:srgbClr val="2CA6A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48672" y="1664208"/>
            <a:ext cx="822960" cy="822960"/>
          </a:xfrm>
          <a:prstGeom prst="ellipse">
            <a:avLst/>
          </a:prstGeom>
          <a:solidFill>
            <a:srgbClr val="2CA6A4"/>
          </a:solidFill>
          <a:ln w="12700">
            <a:solidFill>
              <a:srgbClr val="2CA6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48672" y="186537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427464" y="27432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</a:rPr>
              <a:t>Container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427464" y="33375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dirty="0">
                <a:solidFill>
                  <a:srgbClr val="64788A"/>
                </a:solidFill>
              </a:rPr>
              <a:t>Build • run • health • scan</a:t>
            </a:r>
            <a:endParaRPr lang="en-US" sz="1130" dirty="0"/>
          </a:p>
        </p:txBody>
      </p:sp>
      <p:sp>
        <p:nvSpPr>
          <p:cNvPr id="27" name="Shape 25"/>
          <p:cNvSpPr/>
          <p:nvPr/>
        </p:nvSpPr>
        <p:spPr>
          <a:xfrm>
            <a:off x="3255264" y="5166360"/>
            <a:ext cx="5669280" cy="658368"/>
          </a:xfrm>
          <a:prstGeom prst="roundRect">
            <a:avLst>
              <a:gd name="adj" fmla="val 6944"/>
            </a:avLst>
          </a:prstGeom>
          <a:solidFill>
            <a:srgbClr val="EAF2F8"/>
          </a:solidFill>
          <a:ln w="12700">
            <a:solidFill>
              <a:srgbClr val="1167B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02152" y="5376672"/>
            <a:ext cx="5193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67B1"/>
                </a:solidFill>
              </a:rPr>
              <a:t>Result: all CI jobs passed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795A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</a:rPr>
              <a:t>DevSecOps security controls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118872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88A"/>
                </a:solidFill>
              </a:rPr>
              <a:t>Security is integrated into the pipeline as a set of explicit quality gates.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154680" cy="356616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19050" dist="50800" dir="2700000">
              <a:srgbClr val="C9D3D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3154680" cy="109728"/>
          </a:xfrm>
          <a:prstGeom prst="rect">
            <a:avLst/>
          </a:prstGeom>
          <a:solidFill>
            <a:srgbClr val="C65353"/>
          </a:solidFill>
          <a:ln w="12700">
            <a:solidFill>
              <a:srgbClr val="C653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6596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Gitleaks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395728"/>
            <a:ext cx="2788920" cy="2761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130" dirty="0">
                <a:solidFill>
                  <a:srgbClr val="425466"/>
                </a:solidFill>
              </a:rPr>
              <a:t>Detects committed secrets</a:t>
            </a:r>
            <a:endParaRPr lang="en-US" sz="1130" dirty="0"/>
          </a:p>
          <a:p>
            <a:r>
              <a:rPr lang="en-US" sz="1130" dirty="0">
                <a:solidFill>
                  <a:srgbClr val="425466"/>
                </a:solidFill>
              </a:rPr>
              <a:t>Runs against repository history</a:t>
            </a:r>
            <a:endParaRPr lang="en-US" sz="1130" dirty="0"/>
          </a:p>
          <a:p>
            <a:r>
              <a:rPr lang="en-US" sz="1130" dirty="0">
                <a:solidFill>
                  <a:srgbClr val="425466"/>
                </a:solidFill>
              </a:rPr>
              <a:t>Blocks release on findings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4096512" y="1737360"/>
            <a:ext cx="3154680" cy="356616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19050" dist="50800" dir="2700000">
              <a:srgbClr val="C9D3DC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096512" y="1737360"/>
            <a:ext cx="3154680" cy="1097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79392" y="196596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Checkov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79392" y="2395728"/>
            <a:ext cx="2788920" cy="2761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130" dirty="0">
                <a:solidFill>
                  <a:srgbClr val="425466"/>
                </a:solidFill>
              </a:rPr>
              <a:t>Scans Terraform IaC</a:t>
            </a:r>
            <a:endParaRPr lang="en-US" sz="1130" dirty="0"/>
          </a:p>
          <a:p>
            <a:r>
              <a:rPr lang="en-US" sz="1130" dirty="0">
                <a:solidFill>
                  <a:srgbClr val="425466"/>
                </a:solidFill>
              </a:rPr>
              <a:t>Identifies configuration risks</a:t>
            </a:r>
            <a:endParaRPr lang="en-US" sz="1130" dirty="0"/>
          </a:p>
          <a:p>
            <a:r>
              <a:rPr lang="en-US" sz="1130" dirty="0">
                <a:solidFill>
                  <a:srgbClr val="425466"/>
                </a:solidFill>
              </a:rPr>
              <a:t>Supports documented controls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7552944" y="1737360"/>
            <a:ext cx="397764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19050" dist="50800" dir="2700000">
              <a:srgbClr val="C9D3DC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552944" y="1737360"/>
            <a:ext cx="3977640" cy="109728"/>
          </a:xfrm>
          <a:prstGeom prst="rect">
            <a:avLst/>
          </a:prstGeom>
          <a:solidFill>
            <a:srgbClr val="2CA6A4"/>
          </a:solidFill>
          <a:ln w="12700">
            <a:solidFill>
              <a:srgbClr val="2CA6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35824" y="196596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Trivy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35824" y="2395728"/>
            <a:ext cx="3611880" cy="2761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130" dirty="0">
                <a:solidFill>
                  <a:srgbClr val="425466"/>
                </a:solidFill>
              </a:rPr>
              <a:t>Filesystem vulnerability scan</a:t>
            </a:r>
            <a:endParaRPr lang="en-US" sz="1130" dirty="0"/>
          </a:p>
          <a:p>
            <a:r>
              <a:rPr lang="en-US" sz="1130" dirty="0">
                <a:solidFill>
                  <a:srgbClr val="425466"/>
                </a:solidFill>
              </a:rPr>
              <a:t>Container image scan</a:t>
            </a:r>
            <a:endParaRPr lang="en-US" sz="1130" dirty="0"/>
          </a:p>
          <a:p>
            <a:r>
              <a:rPr lang="en-US" sz="1130" dirty="0">
                <a:solidFill>
                  <a:srgbClr val="425466"/>
                </a:solidFill>
              </a:rPr>
              <a:t>HIGH / CRITICAL gate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777240" y="57150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88A"/>
                </a:solidFill>
              </a:rPr>
              <a:t>Security principle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29968" y="5632704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4F"/>
                </a:solidFill>
              </a:rPr>
              <a:t>Detect issues before an image reaches the deployment stage.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795A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</a:rPr>
              <a:t>Release &amp; container registry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118872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88A"/>
                </a:solidFill>
              </a:rPr>
              <a:t>release.yml creates a deployable artifact only after a successful security scan.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2148840"/>
            <a:ext cx="2240280" cy="1920240"/>
          </a:xfrm>
          <a:prstGeom prst="roundRect">
            <a:avLst>
              <a:gd name="adj" fmla="val 2381"/>
            </a:avLst>
          </a:prstGeom>
          <a:solidFill>
            <a:srgbClr val="EAF2F8"/>
          </a:solidFill>
          <a:ln w="20320">
            <a:solidFill>
              <a:srgbClr val="1167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56032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324F"/>
                </a:solidFill>
              </a:rPr>
              <a:t>Build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31546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88A"/>
                </a:solidFill>
              </a:rPr>
              <a:t>Release image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081528" y="2788920"/>
            <a:ext cx="320040" cy="502920"/>
          </a:xfrm>
          <a:prstGeom prst="chevron">
            <a:avLst/>
          </a:prstGeom>
          <a:solidFill>
            <a:srgbClr val="92A8BA"/>
          </a:solidFill>
          <a:ln w="12700">
            <a:solidFill>
              <a:srgbClr val="92A8B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30168" y="2148840"/>
            <a:ext cx="2240280" cy="1920240"/>
          </a:xfrm>
          <a:prstGeom prst="roundRect">
            <a:avLst>
              <a:gd name="adj" fmla="val 2381"/>
            </a:avLst>
          </a:prstGeom>
          <a:solidFill>
            <a:srgbClr val="EAF2F8"/>
          </a:solidFill>
          <a:ln w="20320">
            <a:solidFill>
              <a:srgbClr val="1167B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13048" y="256032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324F"/>
                </a:solidFill>
              </a:rPr>
              <a:t>Scan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13048" y="31546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88A"/>
                </a:solidFill>
              </a:rPr>
              <a:t>Trivy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34456" y="2788920"/>
            <a:ext cx="320040" cy="502920"/>
          </a:xfrm>
          <a:prstGeom prst="chevron">
            <a:avLst/>
          </a:prstGeom>
          <a:solidFill>
            <a:srgbClr val="92A8BA"/>
          </a:solidFill>
          <a:ln w="12700">
            <a:solidFill>
              <a:srgbClr val="92A8B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83096" y="2148840"/>
            <a:ext cx="2240280" cy="1920240"/>
          </a:xfrm>
          <a:prstGeom prst="roundRect">
            <a:avLst>
              <a:gd name="adj" fmla="val 2381"/>
            </a:avLst>
          </a:prstGeom>
          <a:solidFill>
            <a:srgbClr val="EAF2F8"/>
          </a:solidFill>
          <a:ln w="20320">
            <a:solidFill>
              <a:srgbClr val="1167B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65976" y="256032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324F"/>
                </a:solidFill>
              </a:rPr>
              <a:t>Tag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665976" y="31546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88A"/>
                </a:solidFill>
              </a:rPr>
              <a:t>Version • SHA • latest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87384" y="2788920"/>
            <a:ext cx="320040" cy="502920"/>
          </a:xfrm>
          <a:prstGeom prst="chevron">
            <a:avLst/>
          </a:prstGeom>
          <a:solidFill>
            <a:srgbClr val="92A8BA"/>
          </a:solidFill>
          <a:ln w="12700">
            <a:solidFill>
              <a:srgbClr val="92A8B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36024" y="2148840"/>
            <a:ext cx="2240280" cy="1920240"/>
          </a:xfrm>
          <a:prstGeom prst="roundRect">
            <a:avLst>
              <a:gd name="adj" fmla="val 2381"/>
            </a:avLst>
          </a:prstGeom>
          <a:solidFill>
            <a:srgbClr val="E8F4EA"/>
          </a:solidFill>
          <a:ln w="20320">
            <a:solidFill>
              <a:srgbClr val="4F9D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18904" y="256032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324F"/>
                </a:solidFill>
              </a:rPr>
              <a:t>Publish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18904" y="31546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88A"/>
                </a:solidFill>
              </a:rPr>
              <a:t>GHCR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651760" y="4892040"/>
            <a:ext cx="6858000" cy="786384"/>
          </a:xfrm>
          <a:prstGeom prst="roundRect">
            <a:avLst>
              <a:gd name="adj" fmla="val 4651"/>
            </a:avLst>
          </a:prstGeom>
          <a:solidFill>
            <a:srgbClr val="F1F6F9"/>
          </a:solidFill>
          <a:ln w="12700">
            <a:solidFill>
              <a:srgbClr val="D4E0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80360" y="51389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Registry artifact becomes the controlled input to deployment.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795A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</a:rPr>
              <a:t>Development deployment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118872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88A"/>
                </a:solidFill>
              </a:rPr>
              <a:t>deploy.yml uses the dev environment, pulls the released image, starts the container, and verifies the API.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3246120" cy="342900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19050" dist="50800" dir="2700000">
              <a:srgbClr val="C9D3D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783080"/>
            <a:ext cx="3246120" cy="109728"/>
          </a:xfrm>
          <a:prstGeom prst="rect">
            <a:avLst/>
          </a:prstGeom>
          <a:solidFill>
            <a:srgbClr val="4F9D69"/>
          </a:solidFill>
          <a:ln w="12700">
            <a:solidFill>
              <a:srgbClr val="4F9D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1168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Deploy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441448"/>
            <a:ext cx="2880360" cy="2624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130" dirty="0">
                <a:solidFill>
                  <a:srgbClr val="425466"/>
                </a:solidFill>
              </a:rPr>
              <a:t>GitHub environment: dev</a:t>
            </a:r>
            <a:endParaRPr lang="en-US" sz="1130" dirty="0"/>
          </a:p>
          <a:p>
            <a:r>
              <a:rPr lang="en-US" sz="1130" dirty="0">
                <a:solidFill>
                  <a:srgbClr val="425466"/>
                </a:solidFill>
              </a:rPr>
              <a:t>Authenticate to GHCR</a:t>
            </a:r>
            <a:endParaRPr lang="en-US" sz="1130" dirty="0"/>
          </a:p>
          <a:p>
            <a:r>
              <a:rPr lang="en-US" sz="1130" dirty="0">
                <a:solidFill>
                  <a:srgbClr val="425466"/>
                </a:solidFill>
              </a:rPr>
              <a:t>Pull selected tag</a:t>
            </a:r>
            <a:endParaRPr lang="en-US" sz="1130" dirty="0"/>
          </a:p>
          <a:p>
            <a:r>
              <a:rPr lang="en-US" sz="1130" dirty="0">
                <a:solidFill>
                  <a:srgbClr val="425466"/>
                </a:solidFill>
              </a:rPr>
              <a:t>Run container on port 8080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4224528" y="1783080"/>
            <a:ext cx="3246120" cy="342900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19050" dist="50800" dir="2700000">
              <a:srgbClr val="C9D3DC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24528" y="1783080"/>
            <a:ext cx="3246120" cy="109728"/>
          </a:xfrm>
          <a:prstGeom prst="rect">
            <a:avLst/>
          </a:prstGeom>
          <a:solidFill>
            <a:srgbClr val="2CA6A4"/>
          </a:solidFill>
          <a:ln w="12700">
            <a:solidFill>
              <a:srgbClr val="2CA6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07408" y="201168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Validate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07408" y="2441448"/>
            <a:ext cx="2880360" cy="2624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130" dirty="0">
                <a:solidFill>
                  <a:srgbClr val="425466"/>
                </a:solidFill>
              </a:rPr>
              <a:t>Wait for application</a:t>
            </a:r>
            <a:endParaRPr lang="en-US" sz="1130" dirty="0"/>
          </a:p>
          <a:p>
            <a:r>
              <a:rPr lang="en-US" sz="1130" dirty="0">
                <a:solidFill>
                  <a:srgbClr val="425466"/>
                </a:solidFill>
              </a:rPr>
              <a:t>GET /health</a:t>
            </a:r>
            <a:endParaRPr lang="en-US" sz="1130" dirty="0"/>
          </a:p>
          <a:p>
            <a:r>
              <a:rPr lang="en-US" sz="1130" dirty="0">
                <a:solidFill>
                  <a:srgbClr val="425466"/>
                </a:solidFill>
              </a:rPr>
              <a:t>GET /</a:t>
            </a:r>
            <a:endParaRPr lang="en-US" sz="1130" dirty="0"/>
          </a:p>
          <a:p>
            <a:r>
              <a:rPr lang="en-US" sz="1130" dirty="0">
                <a:solidFill>
                  <a:srgbClr val="425466"/>
                </a:solidFill>
              </a:rPr>
              <a:t>GET /doc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7763256" y="1783080"/>
            <a:ext cx="361188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19050" dist="50800" dir="2700000">
              <a:srgbClr val="C9D3DC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63256" y="1783080"/>
            <a:ext cx="3611880" cy="109728"/>
          </a:xfrm>
          <a:prstGeom prst="rect">
            <a:avLst/>
          </a:prstGeom>
          <a:solidFill>
            <a:srgbClr val="1167B1"/>
          </a:solidFill>
          <a:ln w="12700">
            <a:solidFill>
              <a:srgbClr val="1167B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46136" y="201168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</a:rPr>
              <a:t>Observed result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946136" y="2441448"/>
            <a:ext cx="3246120" cy="2624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130" dirty="0">
                <a:solidFill>
                  <a:srgbClr val="425466"/>
                </a:solidFill>
              </a:rPr>
              <a:t>Deployment workflow passed</a:t>
            </a:r>
            <a:endParaRPr lang="en-US" sz="1130" dirty="0"/>
          </a:p>
          <a:p>
            <a:r>
              <a:rPr lang="en-US" sz="1130" dirty="0">
                <a:solidFill>
                  <a:srgbClr val="425466"/>
                </a:solidFill>
              </a:rPr>
              <a:t>Health endpoint returned status: ok</a:t>
            </a:r>
            <a:endParaRPr lang="en-US" sz="1130" dirty="0"/>
          </a:p>
          <a:p>
            <a:r>
              <a:rPr lang="en-US" sz="1130" dirty="0">
                <a:solidFill>
                  <a:srgbClr val="425466"/>
                </a:solidFill>
              </a:rPr>
              <a:t>Cleanup runs after validation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3246120" y="5623560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F9D69"/>
                </a:solidFill>
              </a:rPr>
              <a:t>DEV DEPLOYMENT SUCCESSFUL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795A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</a:rPr>
              <a:t>Testing &amp; evidence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118872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88A"/>
                </a:solidFill>
              </a:rPr>
              <a:t>Submission evidence demonstrates both local behavior and automated pipeline results.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2011680" cy="20574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9050">
            <a:solidFill>
              <a:srgbClr val="1167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21488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167B1"/>
                </a:solidFill>
              </a:rPr>
              <a:t>✓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85800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</a:rPr>
              <a:t>Local tests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33101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88A"/>
                </a:solidFill>
              </a:rPr>
              <a:t>2 passed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834640" y="1828800"/>
            <a:ext cx="2011680" cy="20574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9050">
            <a:solidFill>
              <a:srgbClr val="4F9D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21488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4F9D69"/>
                </a:solidFill>
              </a:rPr>
              <a:t>✓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3017520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</a:rPr>
              <a:t>Health API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17520" y="33101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88A"/>
                </a:solidFill>
              </a:rPr>
              <a:t>status: ok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166360" y="1828800"/>
            <a:ext cx="2011680" cy="20574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9050">
            <a:solidFill>
              <a:srgbClr val="1167B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21488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167B1"/>
                </a:solidFill>
              </a:rPr>
              <a:t>✓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5349240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</a:rPr>
              <a:t>CI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49240" y="33101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88A"/>
                </a:solidFill>
              </a:rPr>
              <a:t>Passed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498080" y="1828800"/>
            <a:ext cx="2011680" cy="20574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9050">
            <a:solidFill>
              <a:srgbClr val="1167B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83880" y="21488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167B1"/>
                </a:solidFill>
              </a:rPr>
              <a:t>✓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7680960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</a:rPr>
              <a:t>Release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80960" y="33101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88A"/>
                </a:solidFill>
              </a:rPr>
              <a:t>Passed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829800" y="1828800"/>
            <a:ext cx="2011680" cy="20574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9050">
            <a:solidFill>
              <a:srgbClr val="4F9D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0" y="21488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4F9D69"/>
                </a:solidFill>
              </a:rPr>
              <a:t>✓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0012680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</a:rPr>
              <a:t>Deploy dev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12680" y="33101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88A"/>
                </a:solidFill>
              </a:rPr>
              <a:t>Passed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508760" y="4709160"/>
            <a:ext cx="9144000" cy="1005840"/>
          </a:xfrm>
          <a:prstGeom prst="roundRect">
            <a:avLst>
              <a:gd name="adj" fmla="val 3636"/>
            </a:avLst>
          </a:prstGeom>
          <a:solidFill>
            <a:srgbClr val="EEF5FA"/>
          </a:solidFill>
          <a:ln w="12700">
            <a:solidFill>
              <a:srgbClr val="D5E3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0" y="501091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24F"/>
                </a:solidFill>
              </a:rPr>
              <a:t>Evidence set: repository structure • pytest • /health • CI • security • release • dev deployment • architecture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795A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</a:rPr>
              <a:t>Key challenges &amp; resolutions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118872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88A"/>
                </a:solidFill>
              </a:rPr>
              <a:t>The implementation demonstrates iterative troubleshooting across infrastructure, containers, security tooling, and registry delivery.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572768"/>
            <a:ext cx="3063240" cy="603504"/>
          </a:xfrm>
          <a:prstGeom prst="roundRect">
            <a:avLst>
              <a:gd name="adj" fmla="val 4545"/>
            </a:avLst>
          </a:prstGeom>
          <a:solidFill>
            <a:srgbClr val="EEF5FA"/>
          </a:solidFill>
          <a:ln w="12700">
            <a:solidFill>
              <a:srgbClr val="D6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755648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</a:rPr>
              <a:t>Terraform formatting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069080" y="1728216"/>
            <a:ext cx="365760" cy="292608"/>
          </a:xfrm>
          <a:prstGeom prst="chevron">
            <a:avLst/>
          </a:prstGeom>
          <a:solidFill>
            <a:srgbClr val="4F9D69"/>
          </a:solidFill>
          <a:ln w="12700">
            <a:solidFill>
              <a:srgbClr val="4F9D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45152" y="1572768"/>
            <a:ext cx="662940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737360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425466"/>
                </a:solidFill>
              </a:rPr>
              <a:t>Applied fmt checks and validation before progression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731520" y="2432304"/>
            <a:ext cx="3063240" cy="603504"/>
          </a:xfrm>
          <a:prstGeom prst="roundRect">
            <a:avLst>
              <a:gd name="adj" fmla="val 4545"/>
            </a:avLst>
          </a:prstGeom>
          <a:solidFill>
            <a:srgbClr val="F7F9FC"/>
          </a:solidFill>
          <a:ln w="12700">
            <a:solidFill>
              <a:srgbClr val="D6E0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615184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</a:rPr>
              <a:t>Container image visibility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069080" y="2587752"/>
            <a:ext cx="365760" cy="292608"/>
          </a:xfrm>
          <a:prstGeom prst="chevron">
            <a:avLst/>
          </a:prstGeom>
          <a:solidFill>
            <a:srgbClr val="4F9D69"/>
          </a:solidFill>
          <a:ln w="12700">
            <a:solidFill>
              <a:srgbClr val="4F9D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45152" y="2432304"/>
            <a:ext cx="662940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2596896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425466"/>
                </a:solidFill>
              </a:rPr>
              <a:t>Loaded the Buildx image for local Trivy scanning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731520" y="3291840"/>
            <a:ext cx="3063240" cy="603504"/>
          </a:xfrm>
          <a:prstGeom prst="roundRect">
            <a:avLst>
              <a:gd name="adj" fmla="val 4545"/>
            </a:avLst>
          </a:prstGeom>
          <a:solidFill>
            <a:srgbClr val="EEF5FA"/>
          </a:solidFill>
          <a:ln w="12700">
            <a:solidFill>
              <a:srgbClr val="D6E0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474720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</a:rPr>
              <a:t>GHCR image naming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069080" y="3447288"/>
            <a:ext cx="365760" cy="292608"/>
          </a:xfrm>
          <a:prstGeom prst="chevron">
            <a:avLst/>
          </a:prstGeom>
          <a:solidFill>
            <a:srgbClr val="4F9D69"/>
          </a:solidFill>
          <a:ln w="12700">
            <a:solidFill>
              <a:srgbClr val="4F9D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45152" y="3291840"/>
            <a:ext cx="662940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3456432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425466"/>
                </a:solidFill>
              </a:rPr>
              <a:t>Normalized the container repository path to lowercase</a:t>
            </a:r>
            <a:endParaRPr lang="en-US" sz="1230" dirty="0"/>
          </a:p>
        </p:txBody>
      </p:sp>
      <p:sp>
        <p:nvSpPr>
          <p:cNvPr id="19" name="Shape 17"/>
          <p:cNvSpPr/>
          <p:nvPr/>
        </p:nvSpPr>
        <p:spPr>
          <a:xfrm>
            <a:off x="731520" y="4151376"/>
            <a:ext cx="3063240" cy="603504"/>
          </a:xfrm>
          <a:prstGeom prst="roundRect">
            <a:avLst>
              <a:gd name="adj" fmla="val 4545"/>
            </a:avLst>
          </a:prstGeom>
          <a:solidFill>
            <a:srgbClr val="F7F9FC"/>
          </a:solidFill>
          <a:ln w="12700">
            <a:solidFill>
              <a:srgbClr val="D6E0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334256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</a:rPr>
              <a:t>Image tag resolution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069080" y="4306824"/>
            <a:ext cx="365760" cy="292608"/>
          </a:xfrm>
          <a:prstGeom prst="chevron">
            <a:avLst/>
          </a:prstGeom>
          <a:solidFill>
            <a:srgbClr val="4F9D69"/>
          </a:solidFill>
          <a:ln w="12700">
            <a:solidFill>
              <a:srgbClr val="4F9D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45152" y="4151376"/>
            <a:ext cx="662940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4315968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425466"/>
                </a:solidFill>
              </a:rPr>
              <a:t>Aligned release and deployment image references</a:t>
            </a:r>
            <a:endParaRPr lang="en-US" sz="1230" dirty="0"/>
          </a:p>
        </p:txBody>
      </p:sp>
      <p:sp>
        <p:nvSpPr>
          <p:cNvPr id="24" name="Shape 22"/>
          <p:cNvSpPr/>
          <p:nvPr/>
        </p:nvSpPr>
        <p:spPr>
          <a:xfrm>
            <a:off x="731520" y="5010912"/>
            <a:ext cx="3063240" cy="603504"/>
          </a:xfrm>
          <a:prstGeom prst="roundRect">
            <a:avLst>
              <a:gd name="adj" fmla="val 4545"/>
            </a:avLst>
          </a:prstGeom>
          <a:solidFill>
            <a:srgbClr val="EEF5FA"/>
          </a:solidFill>
          <a:ln w="12700">
            <a:solidFill>
              <a:srgbClr val="D6E0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" y="5193792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</a:rPr>
              <a:t>Deployment confidence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069080" y="5166360"/>
            <a:ext cx="365760" cy="292608"/>
          </a:xfrm>
          <a:prstGeom prst="chevron">
            <a:avLst/>
          </a:prstGeom>
          <a:solidFill>
            <a:srgbClr val="4F9D69"/>
          </a:solidFill>
          <a:ln w="12700">
            <a:solidFill>
              <a:srgbClr val="4F9D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45152" y="5010912"/>
            <a:ext cx="662940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6E0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5175504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425466"/>
                </a:solidFill>
              </a:rPr>
              <a:t>Added health and API verification after container startup</a:t>
            </a:r>
            <a:endParaRPr lang="en-US" sz="12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795A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</a:rPr>
              <a:t>Conclusion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85216" y="118872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88A"/>
                </a:solidFill>
              </a:rPr>
              <a:t>The capstone demonstrates a complete, evidence-driven DevSecOps delivery workflow.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76656" y="1965960"/>
            <a:ext cx="1874520" cy="224028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7780">
            <a:solidFill>
              <a:srgbClr val="D4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4871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67B1"/>
                </a:solidFill>
              </a:rPr>
              <a:t>Automated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59536" y="304495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10" dirty="0">
                <a:solidFill>
                  <a:srgbClr val="64788A"/>
                </a:solidFill>
              </a:rPr>
              <a:t>Tests and repeatable workflows</a:t>
            </a:r>
            <a:endParaRPr lang="en-US" sz="1110" dirty="0"/>
          </a:p>
        </p:txBody>
      </p:sp>
      <p:sp>
        <p:nvSpPr>
          <p:cNvPr id="7" name="Shape 5"/>
          <p:cNvSpPr/>
          <p:nvPr/>
        </p:nvSpPr>
        <p:spPr>
          <a:xfrm>
            <a:off x="2962656" y="1965960"/>
            <a:ext cx="1874520" cy="224028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7780">
            <a:solidFill>
              <a:srgbClr val="D4E0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27248" y="24871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67B1"/>
                </a:solidFill>
              </a:rPr>
              <a:t>Secure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145536" y="304495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10" dirty="0">
                <a:solidFill>
                  <a:srgbClr val="64788A"/>
                </a:solidFill>
              </a:rPr>
              <a:t>Secret, IaC and vulnerability scanning</a:t>
            </a:r>
            <a:endParaRPr lang="en-US" sz="1110" dirty="0"/>
          </a:p>
        </p:txBody>
      </p:sp>
      <p:sp>
        <p:nvSpPr>
          <p:cNvPr id="10" name="Shape 8"/>
          <p:cNvSpPr/>
          <p:nvPr/>
        </p:nvSpPr>
        <p:spPr>
          <a:xfrm>
            <a:off x="5248656" y="1965960"/>
            <a:ext cx="1874520" cy="224028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7780">
            <a:solidFill>
              <a:srgbClr val="D4E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13248" y="24871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67B1"/>
                </a:solidFill>
              </a:rPr>
              <a:t>Portable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31536" y="304495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10" dirty="0">
                <a:solidFill>
                  <a:srgbClr val="64788A"/>
                </a:solidFill>
              </a:rPr>
              <a:t>Containerized release artifact</a:t>
            </a:r>
            <a:endParaRPr lang="en-US" sz="1110" dirty="0"/>
          </a:p>
        </p:txBody>
      </p:sp>
      <p:sp>
        <p:nvSpPr>
          <p:cNvPr id="13" name="Shape 11"/>
          <p:cNvSpPr/>
          <p:nvPr/>
        </p:nvSpPr>
        <p:spPr>
          <a:xfrm>
            <a:off x="7534656" y="1965960"/>
            <a:ext cx="1874520" cy="224028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7780">
            <a:solidFill>
              <a:srgbClr val="D4E0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99248" y="24871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67B1"/>
                </a:solidFill>
              </a:rPr>
              <a:t>Controlled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717536" y="304495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10" dirty="0">
                <a:solidFill>
                  <a:srgbClr val="64788A"/>
                </a:solidFill>
              </a:rPr>
              <a:t>Versioned registry publishing</a:t>
            </a:r>
            <a:endParaRPr lang="en-US" sz="1110" dirty="0"/>
          </a:p>
        </p:txBody>
      </p:sp>
      <p:sp>
        <p:nvSpPr>
          <p:cNvPr id="16" name="Shape 14"/>
          <p:cNvSpPr/>
          <p:nvPr/>
        </p:nvSpPr>
        <p:spPr>
          <a:xfrm>
            <a:off x="9820656" y="1965960"/>
            <a:ext cx="1874520" cy="2240280"/>
          </a:xfrm>
          <a:prstGeom prst="roundRect">
            <a:avLst>
              <a:gd name="adj" fmla="val 2439"/>
            </a:avLst>
          </a:prstGeom>
          <a:solidFill>
            <a:srgbClr val="E8F4EA"/>
          </a:solidFill>
          <a:ln w="17780">
            <a:solidFill>
              <a:srgbClr val="4F9D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85248" y="24871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F9D69"/>
                </a:solidFill>
              </a:rPr>
              <a:t>Verified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003536" y="304495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10" dirty="0">
                <a:solidFill>
                  <a:srgbClr val="64788A"/>
                </a:solidFill>
              </a:rPr>
              <a:t>Post-deployment API health checks</a:t>
            </a:r>
            <a:endParaRPr lang="en-US" sz="1110" dirty="0"/>
          </a:p>
        </p:txBody>
      </p:sp>
      <p:sp>
        <p:nvSpPr>
          <p:cNvPr id="19" name="Text 17"/>
          <p:cNvSpPr/>
          <p:nvPr/>
        </p:nvSpPr>
        <p:spPr>
          <a:xfrm>
            <a:off x="2103120" y="5029200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6324F"/>
                </a:solidFill>
              </a:rPr>
              <a:t>READY FOR CAPSTONE SUBMISSION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2240280" y="5715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9D69"/>
                </a:solidFill>
              </a:rPr>
              <a:t>Code → Test → Secure → Build → Release → Deploy → Validate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795A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Capstone Project</Company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Group1 Advanced Capstone</dc:title>
  <dc:subject>Group1 Advanced Cloud and DevSecOps Capstone</dc:subject>
  <dc:creator>EXTERNAL Tamilarasan P (Technosoft, BD/TOA-ETS1)</dc:creator>
  <lastModifiedBy>EXTERNAL Tamilarasan P (Technosoft, BD/TOA-ETS1)</lastModifiedBy>
  <revision>1</revision>
  <dcterms:created xsi:type="dcterms:W3CDTF">2026-09-30T07:39:40.1764267Z</dcterms:created>
  <dcterms:modified xsi:type="dcterms:W3CDTF">2026-09-30T07:39:40.1764267Z</dcterms:modified>
</coreProperties>
</file>